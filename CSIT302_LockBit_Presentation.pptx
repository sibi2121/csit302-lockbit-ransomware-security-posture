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951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0" y="3915918"/>
            <a:ext cx="9144000" cy="1211580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CSIT302 - Cybersecurity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LockBit Ransomware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Posture Evaluation — ABC Manufacturing Ltd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35915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Cyber Kill Chain Framework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4572000" cy="27432"/>
          </a:xfrm>
          <a:prstGeom prst="rect">
            <a:avLst/>
          </a:prstGeom>
          <a:solidFill>
            <a:srgbClr val="6B8FAD"/>
          </a:solidFill>
          <a:ln w="12700">
            <a:solidFill>
              <a:srgbClr val="6B8FAD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" name="Text 7"/>
          <p:cNvSpPr/>
          <p:nvPr/>
        </p:nvSpPr>
        <p:spPr>
          <a:xfrm>
            <a:off x="548640" y="40416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Hriday Kumar  ·  Sibi Parampil  ·  Muhammad Yahya  ·  Mohamed Shafeen  ·  Abdirahman Mohamed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1D2E"/>
          </a:solidFill>
          <a:ln w="12700">
            <a:solidFill>
              <a:srgbClr val="111D2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/>
          <p:nvPr/>
        </p:nvSpPr>
        <p:spPr>
          <a:xfrm>
            <a:off x="347472" y="914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47472" y="34747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&amp; Attack Path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01168" y="987552"/>
            <a:ext cx="3246120" cy="4069080"/>
          </a:xfrm>
          <a:prstGeom prst="rect">
            <a:avLst/>
          </a:prstGeom>
          <a:solidFill>
            <a:srgbClr val="111D2E"/>
          </a:solidFill>
          <a:ln w="12700">
            <a:solidFill>
              <a:srgbClr val="111D2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Text 6"/>
          <p:cNvSpPr/>
          <p:nvPr/>
        </p:nvSpPr>
        <p:spPr>
          <a:xfrm>
            <a:off x="329184" y="1042416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E0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ABC MANUFACTURING?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29184" y="1298448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fictional 300-employee manufacturing company running an on-premises Windows Active Directory environment. They have a single domain controller, a file server, and a backup server — all domain-joined and reachable from the same network.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9184" y="230428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CRITICAL GAPS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74320" y="2606040"/>
            <a:ext cx="3090672" cy="713232"/>
          </a:xfrm>
          <a:prstGeom prst="rect">
            <a:avLst/>
          </a:prstGeom>
          <a:solidFill>
            <a:srgbClr val="16243A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" name="Shape 10"/>
          <p:cNvSpPr/>
          <p:nvPr/>
        </p:nvSpPr>
        <p:spPr>
          <a:xfrm>
            <a:off x="274320" y="2606040"/>
            <a:ext cx="109728" cy="7132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" name="Text 11"/>
          <p:cNvSpPr/>
          <p:nvPr/>
        </p:nvSpPr>
        <p:spPr>
          <a:xfrm>
            <a:off x="457200" y="2660904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MFA on VPN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289864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access requires only a username and password. Stolen credentials alone grant full network entry.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274320" y="3401568"/>
            <a:ext cx="3090672" cy="713232"/>
          </a:xfrm>
          <a:prstGeom prst="rect">
            <a:avLst/>
          </a:prstGeom>
          <a:solidFill>
            <a:srgbClr val="16243A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6" name="Shape 14"/>
          <p:cNvSpPr/>
          <p:nvPr/>
        </p:nvSpPr>
        <p:spPr>
          <a:xfrm>
            <a:off x="274320" y="3401568"/>
            <a:ext cx="109728" cy="7132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7" name="Text 15"/>
          <p:cNvSpPr/>
          <p:nvPr/>
        </p:nvSpPr>
        <p:spPr>
          <a:xfrm>
            <a:off x="457200" y="3456432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445 open between LAN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3694176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Workstations can reach the file server and backup server freely — no firewall rule blocking lateral movement.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274320" y="4197096"/>
            <a:ext cx="3090672" cy="713232"/>
          </a:xfrm>
          <a:prstGeom prst="rect">
            <a:avLst/>
          </a:prstGeom>
          <a:solidFill>
            <a:srgbClr val="16243A"/>
          </a:solidFill>
          <a:ln w="12700">
            <a:solidFill>
              <a:srgbClr val="E0702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0" name="Shape 18"/>
          <p:cNvSpPr/>
          <p:nvPr/>
        </p:nvSpPr>
        <p:spPr>
          <a:xfrm>
            <a:off x="274320" y="4197096"/>
            <a:ext cx="109728" cy="713232"/>
          </a:xfrm>
          <a:prstGeom prst="rect">
            <a:avLst/>
          </a:prstGeom>
          <a:solidFill>
            <a:srgbClr val="E07020"/>
          </a:solidFill>
          <a:ln w="12700">
            <a:solidFill>
              <a:srgbClr val="E0702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1" name="Text 19"/>
          <p:cNvSpPr/>
          <p:nvPr/>
        </p:nvSpPr>
        <p:spPr>
          <a:xfrm>
            <a:off x="457200" y="4251960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0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EDR or SIEM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4489704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AV only. No behavioural detection, no central log aggregation, nobody watching for suspicious activity.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3566160" y="987552"/>
            <a:ext cx="5394960" cy="4069080"/>
          </a:xfrm>
          <a:prstGeom prst="rect">
            <a:avLst/>
          </a:prstGeom>
          <a:solidFill>
            <a:srgbClr val="16243A"/>
          </a:solidFill>
          <a:ln w="12700">
            <a:solidFill>
              <a:srgbClr val="16243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4" name="Text 22"/>
          <p:cNvSpPr/>
          <p:nvPr/>
        </p:nvSpPr>
        <p:spPr>
          <a:xfrm>
            <a:off x="3712464" y="1042416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LOCKBIT MOVES THROUGH THE ENVIRONMENT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657600" y="1353312"/>
            <a:ext cx="5212080" cy="658368"/>
          </a:xfrm>
          <a:prstGeom prst="rect">
            <a:avLst/>
          </a:prstGeom>
          <a:solidFill>
            <a:srgbClr val="0D1117"/>
          </a:solidFill>
          <a:ln w="12700">
            <a:solidFill>
              <a:srgbClr val="E0702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6" name="Shape 24"/>
          <p:cNvSpPr/>
          <p:nvPr/>
        </p:nvSpPr>
        <p:spPr>
          <a:xfrm>
            <a:off x="3712464" y="1463040"/>
            <a:ext cx="402336" cy="402336"/>
          </a:xfrm>
          <a:prstGeom prst="ellipse">
            <a:avLst/>
          </a:prstGeom>
          <a:solidFill>
            <a:srgbClr val="E07020"/>
          </a:solidFill>
          <a:ln w="12700">
            <a:solidFill>
              <a:srgbClr val="E0702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7" name="Text 25"/>
          <p:cNvSpPr/>
          <p:nvPr/>
        </p:nvSpPr>
        <p:spPr>
          <a:xfrm>
            <a:off x="3712464" y="14630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187952" y="1389888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Email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87952" y="1645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receives a malicious .docx. Attacker also tries exposed RDP — no MFA means stolen credentials grant VPN access immediately. (T1566, T1078)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3657600" y="2084832"/>
            <a:ext cx="5212080" cy="658368"/>
          </a:xfrm>
          <a:prstGeom prst="rect">
            <a:avLst/>
          </a:prstGeom>
          <a:solidFill>
            <a:srgbClr val="0D1117"/>
          </a:solidFill>
          <a:ln w="12700">
            <a:solidFill>
              <a:srgbClr val="E0702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1" name="Shape 29"/>
          <p:cNvSpPr/>
          <p:nvPr/>
        </p:nvSpPr>
        <p:spPr>
          <a:xfrm>
            <a:off x="3712464" y="2194560"/>
            <a:ext cx="402336" cy="402336"/>
          </a:xfrm>
          <a:prstGeom prst="ellipse">
            <a:avLst/>
          </a:prstGeom>
          <a:solidFill>
            <a:srgbClr val="E07020"/>
          </a:solidFill>
          <a:ln w="12700">
            <a:solidFill>
              <a:srgbClr val="E0702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2" name="Text 30"/>
          <p:cNvSpPr/>
          <p:nvPr/>
        </p:nvSpPr>
        <p:spPr>
          <a:xfrm>
            <a:off x="3712464" y="21945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187952" y="2121408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 in Memory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187952" y="2377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opens the file. A fileless PowerShell payload runs in memory — signature AV sees nothing. Event ID 4624 logs the login. (T1059.001)</a:t>
            </a:r>
            <a:endParaRPr lang="en-US" sz="780" dirty="0"/>
          </a:p>
        </p:txBody>
      </p:sp>
      <p:sp>
        <p:nvSpPr>
          <p:cNvPr id="35" name="Shape 33"/>
          <p:cNvSpPr/>
          <p:nvPr/>
        </p:nvSpPr>
        <p:spPr>
          <a:xfrm>
            <a:off x="3657600" y="2816352"/>
            <a:ext cx="5212080" cy="658368"/>
          </a:xfrm>
          <a:prstGeom prst="rect">
            <a:avLst/>
          </a:prstGeom>
          <a:solidFill>
            <a:srgbClr val="0D1117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6" name="Shape 34"/>
          <p:cNvSpPr/>
          <p:nvPr/>
        </p:nvSpPr>
        <p:spPr>
          <a:xfrm>
            <a:off x="3712464" y="2926080"/>
            <a:ext cx="402336" cy="40233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7" name="Text 35"/>
          <p:cNvSpPr/>
          <p:nvPr/>
        </p:nvSpPr>
        <p:spPr>
          <a:xfrm>
            <a:off x="3712464" y="29260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187952" y="2852928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&amp; Beaconing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187952" y="3108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task created for persistence — Event 4698 fires but no SIEM alerts. C2 beacon dials home over HTTPS, blending into normal traffic.</a:t>
            </a:r>
            <a:endParaRPr lang="en-US" sz="780" dirty="0"/>
          </a:p>
        </p:txBody>
      </p:sp>
      <p:sp>
        <p:nvSpPr>
          <p:cNvPr id="40" name="Shape 38"/>
          <p:cNvSpPr/>
          <p:nvPr/>
        </p:nvSpPr>
        <p:spPr>
          <a:xfrm>
            <a:off x="3657600" y="3547872"/>
            <a:ext cx="5212080" cy="658368"/>
          </a:xfrm>
          <a:prstGeom prst="rect">
            <a:avLst/>
          </a:prstGeom>
          <a:solidFill>
            <a:srgbClr val="0D1117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1" name="Shape 39"/>
          <p:cNvSpPr/>
          <p:nvPr/>
        </p:nvSpPr>
        <p:spPr>
          <a:xfrm>
            <a:off x="3712464" y="3657600"/>
            <a:ext cx="402336" cy="40233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2" name="Text 40"/>
          <p:cNvSpPr/>
          <p:nvPr/>
        </p:nvSpPr>
        <p:spPr>
          <a:xfrm>
            <a:off x="3712464" y="365760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187952" y="3584448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Lateral Movement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187952" y="3840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Mimikatz dumps NTLM hashes from LSASS. Pass-the-Hash over SMB 445 pivots from the laptop to the file server, backup server, then domain controller.</a:t>
            </a:r>
            <a:endParaRPr lang="en-US" sz="780" dirty="0"/>
          </a:p>
        </p:txBody>
      </p:sp>
      <p:sp>
        <p:nvSpPr>
          <p:cNvPr id="45" name="Shape 43"/>
          <p:cNvSpPr/>
          <p:nvPr/>
        </p:nvSpPr>
        <p:spPr>
          <a:xfrm>
            <a:off x="3657600" y="4279392"/>
            <a:ext cx="5212080" cy="658368"/>
          </a:xfrm>
          <a:prstGeom prst="rect">
            <a:avLst/>
          </a:prstGeom>
          <a:solidFill>
            <a:srgbClr val="0D1117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6" name="Shape 44"/>
          <p:cNvSpPr/>
          <p:nvPr/>
        </p:nvSpPr>
        <p:spPr>
          <a:xfrm>
            <a:off x="3712464" y="4389120"/>
            <a:ext cx="402336" cy="402336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7" name="Text 45"/>
          <p:cNvSpPr/>
          <p:nvPr/>
        </p:nvSpPr>
        <p:spPr>
          <a:xfrm>
            <a:off x="3712464" y="43891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187952" y="4315968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Encryption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187952" y="4572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GPO deploys ransomware to every machine. VSS shadow copies deleted. Files, servers, and backups all encrypted. No recovery path exists. (T1486, T1490)</a:t>
            </a:r>
            <a:endParaRPr lang="en-US" sz="7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1D2E"/>
          </a:solidFill>
          <a:ln w="12700">
            <a:solidFill>
              <a:srgbClr val="111D2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/>
          <p:nvPr/>
        </p:nvSpPr>
        <p:spPr>
          <a:xfrm>
            <a:off x="347472" y="914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47472" y="34747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Controls That Close Every Gap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01168" y="987552"/>
            <a:ext cx="4315968" cy="1975104"/>
          </a:xfrm>
          <a:prstGeom prst="rect">
            <a:avLst/>
          </a:prstGeom>
          <a:solidFill>
            <a:srgbClr val="111D2E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Shape 6"/>
          <p:cNvSpPr/>
          <p:nvPr/>
        </p:nvSpPr>
        <p:spPr>
          <a:xfrm>
            <a:off x="201168" y="987552"/>
            <a:ext cx="438912" cy="1975104"/>
          </a:xfrm>
          <a:prstGeom prst="rect">
            <a:avLst/>
          </a:prstGeom>
          <a:solidFill>
            <a:srgbClr val="16243A"/>
          </a:solidFill>
          <a:ln w="12700">
            <a:solidFill>
              <a:srgbClr val="16243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" name="Text 7"/>
          <p:cNvSpPr/>
          <p:nvPr/>
        </p:nvSpPr>
        <p:spPr>
          <a:xfrm>
            <a:off x="201168" y="987552"/>
            <a:ext cx="438912" cy="1975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13232" y="1078992"/>
            <a:ext cx="3712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on VPN + Disable RDP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13232" y="1353312"/>
            <a:ext cx="37124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Stops: Initial Access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13232" y="1572768"/>
            <a:ext cx="3730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sz="82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enforced — stolen password alone cannot grant access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713232" y="1883664"/>
            <a:ext cx="3730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sz="82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RDP (TCP 3389) disabled externally — VPN is the only entry point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713232" y="2194560"/>
            <a:ext cx="3730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sz="82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sandboxing detonates malicious attachments before delivery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201168" y="2706624"/>
            <a:ext cx="4315968" cy="256032"/>
          </a:xfrm>
          <a:prstGeom prst="rect">
            <a:avLst/>
          </a:prstGeom>
          <a:solidFill>
            <a:srgbClr val="050D18"/>
          </a:solidFill>
          <a:ln w="12700">
            <a:solidFill>
              <a:srgbClr val="050D1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6" name="Text 14"/>
          <p:cNvSpPr/>
          <p:nvPr/>
        </p:nvSpPr>
        <p:spPr>
          <a:xfrm>
            <a:off x="292608" y="2724912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Attacker cannot get in even with valid credentials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681728" y="987552"/>
            <a:ext cx="4315968" cy="1975104"/>
          </a:xfrm>
          <a:prstGeom prst="rect">
            <a:avLst/>
          </a:prstGeom>
          <a:solidFill>
            <a:srgbClr val="111D2E"/>
          </a:solidFill>
          <a:ln w="12700">
            <a:solidFill>
              <a:srgbClr val="1A9BC4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8" name="Shape 16"/>
          <p:cNvSpPr/>
          <p:nvPr/>
        </p:nvSpPr>
        <p:spPr>
          <a:xfrm>
            <a:off x="4681728" y="987552"/>
            <a:ext cx="438912" cy="1975104"/>
          </a:xfrm>
          <a:prstGeom prst="rect">
            <a:avLst/>
          </a:prstGeom>
          <a:solidFill>
            <a:srgbClr val="16243A"/>
          </a:solidFill>
          <a:ln w="12700">
            <a:solidFill>
              <a:srgbClr val="16243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9" name="Text 17"/>
          <p:cNvSpPr/>
          <p:nvPr/>
        </p:nvSpPr>
        <p:spPr>
          <a:xfrm>
            <a:off x="4681728" y="987552"/>
            <a:ext cx="438912" cy="1975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93792" y="1078992"/>
            <a:ext cx="3712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Segmentation + Block SMB 445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193792" y="1353312"/>
            <a:ext cx="37124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Stops: Lateral Movement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193792" y="1572768"/>
            <a:ext cx="3730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1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sz="82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User, Server, and Backup VLANs separated by firewall rules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5193792" y="1883664"/>
            <a:ext cx="3730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1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sz="82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TCP/445 blocked between segments — no workstation-to-server pivot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5193792" y="2194560"/>
            <a:ext cx="3730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1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sz="82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server moved off-domain — not reachable via GPO or domain creds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4681728" y="2706624"/>
            <a:ext cx="4315968" cy="256032"/>
          </a:xfrm>
          <a:prstGeom prst="rect">
            <a:avLst/>
          </a:prstGeom>
          <a:solidFill>
            <a:srgbClr val="050D18"/>
          </a:solidFill>
          <a:ln w="12700">
            <a:solidFill>
              <a:srgbClr val="050D1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6" name="Text 24"/>
          <p:cNvSpPr/>
          <p:nvPr/>
        </p:nvSpPr>
        <p:spPr>
          <a:xfrm>
            <a:off x="4773168" y="2724912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Pass-the-Hash attack cannot reach the file server or backups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01168" y="3054096"/>
            <a:ext cx="4315968" cy="1975104"/>
          </a:xfrm>
          <a:prstGeom prst="rect">
            <a:avLst/>
          </a:prstGeom>
          <a:solidFill>
            <a:srgbClr val="111D2E"/>
          </a:solidFill>
          <a:ln w="12700">
            <a:solidFill>
              <a:srgbClr val="E0702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8" name="Shape 26"/>
          <p:cNvSpPr/>
          <p:nvPr/>
        </p:nvSpPr>
        <p:spPr>
          <a:xfrm>
            <a:off x="201168" y="3054096"/>
            <a:ext cx="438912" cy="1975104"/>
          </a:xfrm>
          <a:prstGeom prst="rect">
            <a:avLst/>
          </a:prstGeom>
          <a:solidFill>
            <a:srgbClr val="16243A"/>
          </a:solidFill>
          <a:ln w="12700">
            <a:solidFill>
              <a:srgbClr val="16243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9" name="Text 27"/>
          <p:cNvSpPr/>
          <p:nvPr/>
        </p:nvSpPr>
        <p:spPr>
          <a:xfrm>
            <a:off x="201168" y="3054096"/>
            <a:ext cx="438912" cy="1975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13232" y="3145536"/>
            <a:ext cx="3712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0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EDR + Centralised SIEM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13232" y="3419856"/>
            <a:ext cx="37124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Stops: Execution, Persistence, C2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13232" y="3639312"/>
            <a:ext cx="3730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E0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sz="82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 detects PowerShell abuse and Mimikatz behaviourally — not by signature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713232" y="3950208"/>
            <a:ext cx="3730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E0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sz="82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aggregates Event IDs 4624, 4698, 4663 and fires alerts in real time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713232" y="4261104"/>
            <a:ext cx="3730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E0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sz="82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rules catch scheduled task creation and abnormal SMB traffic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201168" y="4773168"/>
            <a:ext cx="4315968" cy="256032"/>
          </a:xfrm>
          <a:prstGeom prst="rect">
            <a:avLst/>
          </a:prstGeom>
          <a:solidFill>
            <a:srgbClr val="050D18"/>
          </a:solidFill>
          <a:ln w="12700">
            <a:solidFill>
              <a:srgbClr val="050D1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6" name="Text 34"/>
          <p:cNvSpPr/>
          <p:nvPr/>
        </p:nvSpPr>
        <p:spPr>
          <a:xfrm>
            <a:off x="292608" y="4791456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0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Malicious activity is visible and alerted before encryption starts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681728" y="3054096"/>
            <a:ext cx="4315968" cy="1975104"/>
          </a:xfrm>
          <a:prstGeom prst="rect">
            <a:avLst/>
          </a:prstGeom>
          <a:solidFill>
            <a:srgbClr val="111D2E"/>
          </a:solidFill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8" name="Shape 36"/>
          <p:cNvSpPr/>
          <p:nvPr/>
        </p:nvSpPr>
        <p:spPr>
          <a:xfrm>
            <a:off x="4681728" y="3054096"/>
            <a:ext cx="438912" cy="1975104"/>
          </a:xfrm>
          <a:prstGeom prst="rect">
            <a:avLst/>
          </a:prstGeom>
          <a:solidFill>
            <a:srgbClr val="16243A"/>
          </a:solidFill>
          <a:ln w="12700">
            <a:solidFill>
              <a:srgbClr val="16243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9" name="Text 37"/>
          <p:cNvSpPr/>
          <p:nvPr/>
        </p:nvSpPr>
        <p:spPr>
          <a:xfrm>
            <a:off x="4681728" y="3054096"/>
            <a:ext cx="438912" cy="1975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193792" y="3145536"/>
            <a:ext cx="3712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Offline Backups (3-2-1)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193792" y="3419856"/>
            <a:ext cx="37124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Stops: Permanent Data Loss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193792" y="3639312"/>
            <a:ext cx="3730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sz="82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copies on 2 media types, 1 stored offline and air-gapped</a:t>
            </a:r>
            <a:endParaRPr lang="en-US" sz="820" dirty="0"/>
          </a:p>
        </p:txBody>
      </p:sp>
      <p:sp>
        <p:nvSpPr>
          <p:cNvPr id="43" name="Text 41"/>
          <p:cNvSpPr/>
          <p:nvPr/>
        </p:nvSpPr>
        <p:spPr>
          <a:xfrm>
            <a:off x="5193792" y="3950208"/>
            <a:ext cx="3730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sz="82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server off-domain — VSS deletion and ransomware cannot reach it</a:t>
            </a:r>
            <a:endParaRPr lang="en-US" sz="820" dirty="0"/>
          </a:p>
        </p:txBody>
      </p:sp>
      <p:sp>
        <p:nvSpPr>
          <p:cNvPr id="44" name="Text 42"/>
          <p:cNvSpPr/>
          <p:nvPr/>
        </p:nvSpPr>
        <p:spPr>
          <a:xfrm>
            <a:off x="5193792" y="4261104"/>
            <a:ext cx="3730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sz="82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restore tests confirm recovery before any real incident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4681728" y="4773168"/>
            <a:ext cx="4315968" cy="256032"/>
          </a:xfrm>
          <a:prstGeom prst="rect">
            <a:avLst/>
          </a:prstGeom>
          <a:solidFill>
            <a:srgbClr val="050D18"/>
          </a:solidFill>
          <a:ln w="12700">
            <a:solidFill>
              <a:srgbClr val="050D1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6" name="Text 44"/>
          <p:cNvSpPr/>
          <p:nvPr/>
        </p:nvSpPr>
        <p:spPr>
          <a:xfrm>
            <a:off x="4773168" y="4791456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Full recovery is possible without paying the ransom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1D2E"/>
          </a:solidFill>
          <a:ln w="12700">
            <a:solidFill>
              <a:srgbClr val="111D2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A9BC4"/>
          </a:solidFill>
          <a:ln w="12700">
            <a:solidFill>
              <a:srgbClr val="1A9BC4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/>
          <p:nvPr/>
        </p:nvSpPr>
        <p:spPr>
          <a:xfrm>
            <a:off x="347472" y="914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1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47472" y="34747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Posture: Before vs After Controls</a:t>
            </a:r>
            <a:endParaRPr lang="en-US" sz="2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960120"/>
            <a:ext cx="8732520" cy="40965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395</TotalTime>
  <Words>567</Words>
  <Application>Microsoft Office PowerPoint</Application>
  <PresentationFormat>On-screen Show (16:9)</PresentationFormat>
  <Paragraphs>68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Hriday Pradeep Kumar</cp:lastModifiedBy>
  <cp:revision>2</cp:revision>
  <dcterms:created xsi:type="dcterms:W3CDTF">2026-03-03T15:37:13Z</dcterms:created>
  <dcterms:modified xsi:type="dcterms:W3CDTF">2026-03-03T22:22:58Z</dcterms:modified>
</cp:coreProperties>
</file>